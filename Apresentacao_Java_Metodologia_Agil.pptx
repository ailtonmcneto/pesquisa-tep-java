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modern_tech_workspace_scene_with_a_wide_c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60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49377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700">
                <a:solidFill>
                  <a:srgbClr val="1A365D"/>
                </a:solidFill>
              </a:defRPr>
            </a:pPr>
            <a:r>
              <a:t>Pesquisa sobre a Linguagem Java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t>Metodologia Ágil • Tópicos Essenciais para Programação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UNIESP – Centro Universitário | 2026.1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023360"/>
            <a:ext cx="1417320" cy="475488"/>
          </a:xfrm>
          <a:prstGeom prst="roundRect">
            <a:avLst/>
          </a:prstGeom>
          <a:solidFill>
            <a:srgbClr val="F6B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JAVA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4023360"/>
            <a:ext cx="2423160" cy="47548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Grupo de 3 a 4 alunos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Objetivo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Organização do material exigido na lista de Metodologia Ágil</a:t>
            </a:r>
          </a:p>
        </p:txBody>
      </p:sp>
      <p:pic>
        <p:nvPicPr>
          <p:cNvPr id="5" name="Picture 4" descr="a_clean_bright_office_collaboration_workspace_sce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97280"/>
            <a:ext cx="54406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417320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Pesquisar uma linguagem de programação: Java.</a:t>
            </a:r>
          </a:p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Dividir a pesquisa em tarefas menores.</a:t>
            </a:r>
          </a:p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Registrar responsável, prazo, status, fonte e conclusão.</a:t>
            </a:r>
          </a:p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Criar documento, apresentação e README.md.</a:t>
            </a:r>
          </a:p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Organizar todo o material em um repositório GitHub.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Base: Lista de Exercício – Metodologia Ágil, UNIESP.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Organização ágil da 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5097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Modelo simples inspirado em Scrum/Kanban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194560" cy="47548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Backlog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417320"/>
            <a:ext cx="2194560" cy="475488"/>
          </a:xfrm>
          <a:prstGeom prst="roundRect">
            <a:avLst/>
          </a:prstGeom>
          <a:solidFill>
            <a:srgbClr val="F6B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Em andamento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2194560" cy="475488"/>
          </a:xfrm>
          <a:prstGeom prst="roundRect">
            <a:avLst/>
          </a:prstGeom>
          <a:solidFill>
            <a:srgbClr val="508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Concluído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História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Criadores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Características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Código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Aplicações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214884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Revisão final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Inserção do link GitHub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Conferência das fontes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14884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README.md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Documento de tarefas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Slides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Exemplos Java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Critério de pronto: conteúdo pesquisado, fonte registrada, revisado e salvo no repositório.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História do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Criado inicialmente como Oak, na Sun Microsystems.</a:t>
            </a:r>
          </a:p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Projetado no início para dispositivos eletrônicos embarcados.</a:t>
            </a:r>
          </a:p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Redirecionado para a Internet e lançado publicamente em 1995.</a:t>
            </a:r>
          </a:p>
          <a:p>
            <a:pPr>
              <a:spcAft>
                <a:spcPts val="800"/>
              </a:spcAft>
              <a:defRPr sz="2200">
                <a:solidFill>
                  <a:srgbClr val="1A365D"/>
                </a:solidFill>
              </a:defRPr>
            </a:pPr>
            <a:r>
              <a:t>Popularizou a ideia: “write once, run anywhere”, com execução por JVM.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508760"/>
            <a:ext cx="1828800" cy="47548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1991: Oak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2331720"/>
            <a:ext cx="1828800" cy="475488"/>
          </a:xfrm>
          <a:prstGeom prst="roundRect">
            <a:avLst/>
          </a:prstGeom>
          <a:solidFill>
            <a:srgbClr val="F6B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1995: 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3154680"/>
            <a:ext cx="2377440" cy="475488"/>
          </a:xfrm>
          <a:prstGeom prst="roundRect">
            <a:avLst/>
          </a:prstGeom>
          <a:solidFill>
            <a:srgbClr val="508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JVM: portabilidade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Fonte: Oracle, The Java Language Specification; Oracle 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Criador(es)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A365D"/>
                </a:solidFill>
              </a:defRPr>
            </a:pPr>
            <a:r>
              <a:t>Principal nome associado: James Gosling.</a:t>
            </a:r>
          </a:p>
          <a:p>
            <a:pPr>
              <a:spcAft>
                <a:spcPts val="800"/>
              </a:spcAft>
              <a:defRPr sz="2100">
                <a:solidFill>
                  <a:srgbClr val="1A365D"/>
                </a:solidFill>
              </a:defRPr>
            </a:pPr>
            <a:r>
              <a:t>A especificação registra contribuições de Ed Frank, Patrick Naughton, Jonathan Payne e Chris Warth.</a:t>
            </a:r>
          </a:p>
          <a:p>
            <a:pPr>
              <a:spcAft>
                <a:spcPts val="800"/>
              </a:spcAft>
              <a:defRPr sz="2100">
                <a:solidFill>
                  <a:srgbClr val="1A365D"/>
                </a:solidFill>
              </a:defRPr>
            </a:pPr>
            <a:r>
              <a:t>Também participaram da forma final: Bill Joy, Guy Steele, Richard Tuck, Frank Yellin e Arthur van Hoff.</a:t>
            </a:r>
          </a:p>
          <a:p>
            <a:pPr>
              <a:spcAft>
                <a:spcPts val="800"/>
              </a:spcAft>
              <a:defRPr sz="2100">
                <a:solidFill>
                  <a:srgbClr val="1A365D"/>
                </a:solidFill>
              </a:defRPr>
            </a:pPr>
            <a:r>
              <a:t>Hoje, a Oracle mantém parte essencial da plataforma e do ecossistema Java.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Fonte: Oracle, The Java Language Specification; Oracle Java.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Principais características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5448" rIns="155448"/>
          <a:lstStyle/>
          <a:p>
            <a:pPr algn="ctr">
              <a:defRPr b="1" sz="1700">
                <a:solidFill>
                  <a:srgbClr val="1A365D"/>
                </a:solidFill>
              </a:defRPr>
            </a:pPr>
            <a:r>
              <a:t>Orientada a objetos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classes, objetos, herança e polimorfismo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5448" rIns="155448"/>
          <a:lstStyle/>
          <a:p>
            <a:pPr algn="ctr">
              <a:defRPr b="1" sz="1700">
                <a:solidFill>
                  <a:srgbClr val="1A365D"/>
                </a:solidFill>
              </a:defRPr>
            </a:pPr>
            <a:r>
              <a:t>Portável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bytecode executado pela JVM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5448" rIns="155448"/>
          <a:lstStyle/>
          <a:p>
            <a:pPr algn="ctr">
              <a:defRPr b="1" sz="1700">
                <a:solidFill>
                  <a:srgbClr val="1A365D"/>
                </a:solidFill>
              </a:defRPr>
            </a:pPr>
            <a:r>
              <a:t>Fortemente tipada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tipos definidos e verificados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39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5448" rIns="155448"/>
          <a:lstStyle/>
          <a:p>
            <a:pPr algn="ctr">
              <a:defRPr b="1" sz="1700">
                <a:solidFill>
                  <a:srgbClr val="1A365D"/>
                </a:solidFill>
              </a:defRPr>
            </a:pPr>
            <a:r>
              <a:t>Robusta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exceções e coleta de lixo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291839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5448" rIns="155448"/>
          <a:lstStyle/>
          <a:p>
            <a:pPr algn="ctr">
              <a:defRPr b="1" sz="1700">
                <a:solidFill>
                  <a:srgbClr val="1A365D"/>
                </a:solidFill>
              </a:defRPr>
            </a:pPr>
            <a:r>
              <a:t>Multiplataforma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desktop, servidor, web e legado Android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291839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5448" rIns="155448"/>
          <a:lstStyle/>
          <a:p>
            <a:pPr algn="ctr">
              <a:defRPr b="1" sz="1700">
                <a:solidFill>
                  <a:srgbClr val="1A365D"/>
                </a:solidFill>
              </a:defRPr>
            </a:pPr>
            <a:r>
              <a:t>Ecossistema maduro</a:t>
            </a:r>
          </a:p>
          <a:p>
            <a:pPr>
              <a:defRPr sz="1300">
                <a:solidFill>
                  <a:srgbClr val="5A5A5A"/>
                </a:solidFill>
              </a:defRPr>
            </a:pPr>
            <a:r>
              <a:t>frameworks, IDEs, bibliotecas e comunidade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Fontes: Oracle Java Documentation; Oracle Database Java overview; Google Java Style Guide.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Exemplo de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10698480" cy="224028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500">
                <a:solidFill>
                  <a:srgbClr val="FFFFFF"/>
                </a:solidFill>
                <a:latin typeface="Consolas"/>
              </a:defRPr>
            </a:pPr>
            <a:r>
              <a:t>public class OlaMundo {</a:t>
            </a:r>
            <a:br/>
            <a:r>
              <a:t>    public static void main(String[] args) {</a:t>
            </a:r>
            <a:br/>
            <a:r>
              <a:t>        String linguagem = "Java";</a:t>
            </a:r>
            <a:br/>
            <a:r>
              <a:t>        System.out.println("Olá, mundo! Estamos estudando " + linguagem + ".");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9476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A classe pública se chama OlaMundo e o arquivo deve ser OlaMundo.java.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O método main é o ponto de entrada do programa.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System.out.println imprime uma mensagem no terminal.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Fonte de estilo: Google Java Style Guide; Oracle Code Conventions.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Áreas de aplicação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788920" cy="47548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Sistemas corporativos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463040"/>
            <a:ext cx="2788920" cy="475488"/>
          </a:xfrm>
          <a:prstGeom prst="roundRect">
            <a:avLst/>
          </a:prstGeom>
          <a:solidFill>
            <a:srgbClr val="508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APIs e backend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463040"/>
            <a:ext cx="2788920" cy="475488"/>
          </a:xfrm>
          <a:prstGeom prst="roundRect">
            <a:avLst/>
          </a:prstGeom>
          <a:solidFill>
            <a:srgbClr val="F6B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Microserviços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17520"/>
            <a:ext cx="2788920" cy="475488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Aplicações desktop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017520"/>
            <a:ext cx="2788920" cy="475488"/>
          </a:xfrm>
          <a:prstGeom prst="roundRect">
            <a:avLst/>
          </a:prstGeom>
          <a:solidFill>
            <a:srgbClr val="508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Android legado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017520"/>
            <a:ext cx="2788920" cy="475488"/>
          </a:xfrm>
          <a:prstGeom prst="roundRect">
            <a:avLst/>
          </a:prstGeom>
          <a:solidFill>
            <a:srgbClr val="F6B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Sistemas financeiros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A365D"/>
                </a:solidFill>
              </a:defRPr>
            </a:pPr>
            <a:r>
              <a:t>Java SE é usado para desenvolver e implantar aplicações em desktops e servidores.</a:t>
            </a:r>
          </a:p>
          <a:p>
            <a:pPr>
              <a:spcAft>
                <a:spcPts val="800"/>
              </a:spcAft>
              <a:defRPr sz="1900">
                <a:solidFill>
                  <a:srgbClr val="1A365D"/>
                </a:solidFill>
              </a:defRPr>
            </a:pPr>
            <a:r>
              <a:t>Java EE/Jakarta EE se consolidou historicamente no desenvolvimento corporativo.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Fontes: Oracle Java Documentation; Oracle Java EE at a Glance.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Vantagens e desvantagens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2011680" cy="475488"/>
          </a:xfrm>
          <a:prstGeom prst="roundRect">
            <a:avLst/>
          </a:prstGeom>
          <a:solidFill>
            <a:srgbClr val="508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Vantagens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Portabilidade entre plataformas por meio da JVM.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Comunidade ampla e documentação abundante.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Ecossistema maduro, com frameworks como Spring, Jakarta EE e ferramentas de build.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Boa aceitação em sistemas corporativos e de grande escala.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Gerenciamento automático de memória, o que reduz certos erros comuns.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2286000" cy="475488"/>
          </a:xfrm>
          <a:prstGeom prst="round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Desvantagens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Sintaxe mais verbosa do que linguagens modernas como Python e Kotlin.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Consumo de memória geralmente maior do que linguagens de baixo nível, como C.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Curva de aprendizado inicial em orientação a objetos, JVM, pacotes e ferramentas.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</a:defRPr>
            </a:pPr>
            <a:r>
              <a:t>Alguns sistemas antigos em Java podem acumular código legado difícil de manter.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Síntese a partir de Oracle Docs e análise do grupo.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Empresas e organizações que utilizam 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LinkedIn: relata grande volume de aplicações Java em sua infraestrutura.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Uber: mantém equipe de Java Platform e modernização do ecossistema Java.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Netflix: apresenta uso de Java em microserviços e ferramentas internas.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Oracle: distribui, documenta e mantém parte central da plataforma Java.</a:t>
            </a:r>
          </a:p>
          <a:p>
            <a:pPr>
              <a:spcAft>
                <a:spcPts val="800"/>
              </a:spcAft>
              <a:defRPr sz="2000">
                <a:solidFill>
                  <a:srgbClr val="1A365D"/>
                </a:solidFill>
              </a:defRPr>
            </a:pPr>
            <a:r>
              <a:t>Setor corporativo e financeiro: usa Java por maturidade e estabilidade.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Fontes: LinkedIn Engineering; Uber Careers; InfoQ/Netflix; Oracle Java.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Curiosidades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4983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A365D"/>
                </a:solidFill>
              </a:defRPr>
            </a:pPr>
            <a:r>
              <a:t>O nome original da linguagem era Oak.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4983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A365D"/>
                </a:solidFill>
              </a:defRPr>
            </a:pPr>
            <a:r>
              <a:t>O mascote do Java é conhecido como Duke.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4983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A365D"/>
                </a:solidFill>
              </a:defRPr>
            </a:pPr>
            <a:r>
              <a:t>Arquivos de código-fonte Java usam a extensão .java.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468880"/>
            <a:ext cx="4983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A365D"/>
                </a:solidFill>
              </a:defRPr>
            </a:pPr>
            <a:r>
              <a:t>O código Java é compilado para bytecode, executado pela JVM.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80"/>
            <a:ext cx="4983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A365D"/>
                </a:solidFill>
              </a:defRPr>
            </a:pPr>
            <a:r>
              <a:t>A linguagem completou 30 anos em 2025, considerando o lançamento público de 1995.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Fontes: Oracle JLS; Oracle Java; OpenJDK/Oracle Downloads.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A365D"/>
                </a:solidFill>
              </a:defRPr>
            </a:pPr>
            <a:r>
              <a:t>Conclusão e entregáveis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A365D"/>
                </a:solidFill>
              </a:defRPr>
            </a:pPr>
            <a:r>
              <a:t>Java é uma linguagem madura, portável e muito usada em sistemas corporativos.</a:t>
            </a:r>
          </a:p>
          <a:p>
            <a:pPr>
              <a:spcAft>
                <a:spcPts val="800"/>
              </a:spcAft>
              <a:defRPr sz="2100">
                <a:solidFill>
                  <a:srgbClr val="1A365D"/>
                </a:solidFill>
              </a:defRPr>
            </a:pPr>
            <a:r>
              <a:t>O grupo organizou a pesquisa com tarefas menores e acompanhamento ágil.</a:t>
            </a:r>
          </a:p>
          <a:p>
            <a:pPr>
              <a:spcAft>
                <a:spcPts val="800"/>
              </a:spcAft>
              <a:defRPr sz="2100">
                <a:solidFill>
                  <a:srgbClr val="1A365D"/>
                </a:solidFill>
              </a:defRPr>
            </a:pPr>
            <a:r>
              <a:t>Entregáveis: documento de tarefas, PowerPoint, README.md e exemplos de código.</a:t>
            </a:r>
          </a:p>
          <a:p>
            <a:pPr>
              <a:spcAft>
                <a:spcPts val="800"/>
              </a:spcAft>
              <a:defRPr sz="2100">
                <a:solidFill>
                  <a:srgbClr val="1A365D"/>
                </a:solidFill>
              </a:defRPr>
            </a:pPr>
            <a:r>
              <a:t>Próximo passo: criar o repositório no GitHub e inserir o link definitivo no formulário da turma.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46464"/>
                </a:solidFill>
              </a:defRPr>
            </a:pPr>
            <a:r>
              <a:t>Fontes principais: Oracle Java, Oracle JLS, Google Java Style Guide, LinkedIn Engineering, Uber Careers e InfoQ/Netflix.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